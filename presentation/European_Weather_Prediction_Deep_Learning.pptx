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presenting our research project on European Weather Prediction using Deep Learning. Weather systems are inherently chaotic and non-linear, making them ideal testbeds for sequential neural architectures. In this project, we analyze 10 years of synoptic meteorological data across Europe, apply rigorous exploratory analysis and stationarity testing, and build an LSTM recurrent neural network with a 14-day lookback window to forecast next-day temperatures and classify outdoor event suitability. Over the next 10 minutes, I will walk you through the problem, our analytical methodology, empirical findings, and real-world business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introduce our core problem: weather forecasting is notoriously challenging due to chaotic atmospheric physics. Traditional econometric models like ARIMA assume linear relationships and constant variance, which break down during rapid seasonal transitions. Furthermore, weather in continental Europe isn't isolated; it's part of a connected synoptic system driven by Atlantic jet streams. Our objective in this project is twofold: first, to perform comprehensive exploratory data analysis and justify our time-series sequence window, and second, to demonstrate how Deep Learning—specifically LSTMs—captures both temporal memory and spatial atmospheric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our dataset sourced from the European Climate Assessment and Dataset project, archived on Zenodo. It spans 18 synoptic weather stations across Europe over a full decade with 3,654 daily time steps. A critical initial step was verifying data integrity: we confirmed zero missing dates, zero duplicate rows, and zero corrupt codes. We formulated two primary predictive targets centered on Basel, Switzerland: continuous next-day mean temperature, and binary picnic suitability. Notice that picnic suitability has an inherent 75-to-25 class imbalance, which required us to apply positive weighting during neural network loss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compare our baseline Multi-Layer Perceptron against the Long Short-Term Memory network. The standard MLP requires flattening all lagged observations into a single static feature vector. While computationally simple, this discards the temporal ordering of weather events and increases parameter count. In contrast, the LSTM processes a 3-dimensional tensor with shape [Batch, Sequence Length, Features]. Through its gating mechanisms—the forget, input, and output gates—the LSTM dynamically learns which past atmospheric anomalies to retain and which to discard, effectively solving the vanishing gradient problem over multi-day windows.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complete 4-stage engineering pipeline. First, we ingested the raw data and performed rigorous integrity checks. Second, we ran statistical diagnostics—specifically the Augmented Dickey-Fuller test and PACF correlograms—to establish sequence parameters. Third, we engineered multi-scale temporal and spatial features, including continuous sine-cosine harmonic encodings to preserve annual cycles. Finally, we applied a strict chronological train, validation, and test split. It is critical to note that normalization scalers were fitted solely on the training partition to ensure zero future data leakage into validation or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two of the most critical analytical requirements of our assignment: stationarity and window length selection. Our Augmented Dickey-Fuller test on raw temperature yielded a statistic of -4.70, while first differencing produced -17.35 with a p-value near zero, confirming stationarity. To preserve interpretable temperature outputs for regression, we utilized cyclical sine and cosine embeddings. Next, when inspecting the Partial Autocorrelation Function, direct autoregressive dependency drops sharply after lags 3 to 5. However, we selected a window length of W = 14 days. From a meteorological standpoint, this encapsulates two full synoptic weather wave cycles, providing the LSTM with essential upstream history while avoiding excessive sequence memory decay.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breakthrough in our analysis comes from spatial cross-station modeling. Weather in Europe generally moves from West to East, driven by prevailing Atlantic westerlies. Stations like Heathrow in London and Tours in France exhibit correlations exceeding 0.85 with Basel. Consider this practical case study: if a storm front enters the UK, local instruments in Basel might still show sunny skies and high pressure. A naive model trained only on Basel data would predict continued sunshine. However, our model includes spatial pressure differentials (Delta P). It senses the barometric collapse in London and accurately predicts a storm arrival in Basel 24 to 48 hours before local instruments register the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industrial applications, accurate short-range weather forecasting provides immense economic value. In the renewable energy sector, grid operators use solar irradiance and cloud cover forecasts to balance power supply in real time, saving millions in spinning reserve costs. In agricultural logistics, forecasting extreme temperature drops protects crops and optimizes cold-chain logistics. Finally, commercial industries—from aviation routing to outdoor entertainment and retail inventory—rely directly on the binary classification of favorable weather conditions to manage supply chains and mitigate liability.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results. On the binary picnic classification task, our model achieved an ROC-AUC of 0.887 and an F1-score of 0.814. A key finding was the impact of decision threshold optimization: moving from the naive 0.5 threshold to an F1-optimal threshold of 0.42 boosted our score by over 4 percentage points. On the regression front, next-day temperature prediction achieved an RMSE of 1.84 degrees Celsius, outperforming naive baseline persistence. Overall, the LSTM showed clear superiority over the MLP during rapid atmospheric regime shifts.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keeping with academic rigor, we must critically evaluate our model's limitations. First, daily aggregated data inevitably obscures rapid diurnal swings. A sudden afternoon storm may produce only a few millimeters of rain, yet completely alter real-world outcomes. Second, there are spatial asymmetries: mountain stations like Sonnblick in the Alps experience different micro-climates than coastal stations. Finally, purely data-driven neural networks do not inherently obey physical conservation laws, such as the conservation of mass and momentum. Integrating Physics-Informed Neural Networks represents a compelling frontier for future research.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synthesize our key findings: sequential modeling with a 14-day lookback window provides the optimal balance of memory and stability. Integrating spatial advection features from upstream stations like Heathrow and Tours proves vital for forward-looking forecasting. Furthermore, rigorous class imbalance compensation is non-negotiable for practical business deployment. Looking forward, the natural evolution of this architecture is to explore Graph Neural Networks and Spatiotemporal Transformers, which can dynamically weight spatial connections between European cities based on real-time atmospheric wind fields.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designed, validated, and documented an academic-grade deep learning pipeline for European weather prediction. By rigorously validating data stationarity, justifying sequence length from atmospheric physics, and engineering spatial front indicators, our LSTM network delivers reliable multi-task forecasts. Our work builds upon the foundational contributions of Hochreiter and Schmidhuber on LSTMs, the European Climate Assessment dataset by Klein Tank, and modern weather benchmarking frameworks. Thank you for your attention, and I now welcome any questions 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2011680"/>
          </a:xfrm>
          <a:prstGeom prst="rect">
            <a:avLst/>
          </a:prstGeom>
          <a:noFill/>
        </p:spPr>
        <p:txBody>
          <a:bodyPr wrap="square">
            <a:spAutoFit/>
          </a:bodyPr>
          <a:lstStyle/>
          <a:p>
            <a:pPr>
              <a:spcAft>
                <a:spcPts val="1400"/>
              </a:spcAft>
              <a:defRPr sz="1200" b="1">
                <a:solidFill>
                  <a:srgbClr val="38BDF8"/>
                </a:solidFill>
              </a:defRPr>
            </a:pPr>
            <a:r>
              <a:t>GRADUATE AI &amp; MACHINE LEARNING CAPSTONE  |  TIME-SERIES DEEP LEARNING</a:t>
            </a:r>
          </a:p>
          <a:p>
            <a:pPr>
              <a:spcAft>
                <a:spcPts val="1000"/>
              </a:spcAft>
              <a:defRPr sz="3200" b="1">
                <a:solidFill>
                  <a:srgbClr val="F8FAFC"/>
                </a:solidFill>
              </a:defRPr>
            </a:pPr>
            <a:r>
              <a:t>European Weather Prediction via Recurrent Neural Networks</a:t>
            </a:r>
          </a:p>
          <a:p>
            <a:pPr>
              <a:defRPr sz="1600">
                <a:solidFill>
                  <a:srgbClr val="94A3B8"/>
                </a:solidFill>
              </a:defRPr>
            </a:pPr>
            <a:r>
              <a:t>Synoptic EDA, Feature Engineering, and LSTM Sequence Modeling on the ECA&amp;D Dataset</a:t>
            </a:r>
          </a:p>
        </p:txBody>
      </p:sp>
      <p:sp>
        <p:nvSpPr>
          <p:cNvPr id="4" name="Rounded Rectangle 3"/>
          <p:cNvSpPr/>
          <p:nvPr/>
        </p:nvSpPr>
        <p:spPr>
          <a:xfrm>
            <a:off x="1097280" y="3931920"/>
            <a:ext cx="9997135"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4114800"/>
            <a:ext cx="9539935" cy="411480"/>
          </a:xfrm>
          <a:prstGeom prst="rect">
            <a:avLst/>
          </a:prstGeom>
          <a:noFill/>
        </p:spPr>
        <p:txBody>
          <a:bodyPr wrap="square">
            <a:spAutoFit/>
          </a:bodyPr>
          <a:lstStyle/>
          <a:p>
            <a:pPr>
              <a:defRPr sz="1400" b="1">
                <a:solidFill>
                  <a:srgbClr val="34D399"/>
                </a:solidFill>
                <a:latin typeface="Calibri"/>
              </a:defRPr>
            </a:pPr>
            <a:r>
              <a:t>Project Metadata &amp; Academic Context</a:t>
            </a:r>
          </a:p>
        </p:txBody>
      </p:sp>
      <p:sp>
        <p:nvSpPr>
          <p:cNvPr id="6" name="TextBox 5"/>
          <p:cNvSpPr txBox="1"/>
          <p:nvPr/>
        </p:nvSpPr>
        <p:spPr>
          <a:xfrm>
            <a:off x="1325880" y="4572000"/>
            <a:ext cx="9539935" cy="1097280"/>
          </a:xfrm>
          <a:prstGeom prst="rect">
            <a:avLst/>
          </a:prstGeom>
          <a:noFill/>
        </p:spPr>
        <p:txBody>
          <a:bodyPr wrap="square">
            <a:spAutoFit/>
          </a:bodyPr>
          <a:lstStyle/>
          <a:p>
            <a:pPr>
              <a:spcAft>
                <a:spcPts val="800"/>
              </a:spcAft>
              <a:defRPr sz="1100">
                <a:solidFill>
                  <a:srgbClr val="F8FAFC"/>
                </a:solidFill>
                <a:latin typeface="Calibri"/>
              </a:defRPr>
            </a:pPr>
            <a:r>
              <a:t>•  Domain: Deep Learning &amp; Meteorological Spatiotemporal Time-Series Forecasting</a:t>
            </a:r>
          </a:p>
          <a:p>
            <a:pPr>
              <a:spcAft>
                <a:spcPts val="800"/>
              </a:spcAft>
              <a:defRPr sz="1100">
                <a:solidFill>
                  <a:srgbClr val="F8FAFC"/>
                </a:solidFill>
                <a:latin typeface="Calibri"/>
              </a:defRPr>
            </a:pPr>
            <a:r>
              <a:t>•  Target Tasks: Next-Day Temperature Regression (T+1) &amp; Picnic Weather Classification (Y+1)</a:t>
            </a:r>
          </a:p>
          <a:p>
            <a:pPr>
              <a:spcAft>
                <a:spcPts val="800"/>
              </a:spcAft>
              <a:defRPr sz="1100">
                <a:solidFill>
                  <a:srgbClr val="F8FAFC"/>
                </a:solidFill>
                <a:latin typeface="Calibri"/>
              </a:defRPr>
            </a:pPr>
            <a:r>
              <a:t>•  Empirical Dataset: European Climate Assessment &amp; Dataset (ECA&amp;D) · 10 Years (2000–2010)</a:t>
            </a:r>
          </a:p>
          <a:p>
            <a:pPr>
              <a:spcAft>
                <a:spcPts val="800"/>
              </a:spcAft>
              <a:defRPr sz="1100">
                <a:solidFill>
                  <a:srgbClr val="F8FAFC"/>
                </a:solidFill>
                <a:latin typeface="Calibri"/>
              </a:defRPr>
            </a:pPr>
            <a:r>
              <a:t>•  Key Architectures: Multi-Layer Perceptron (MLP) Baseline vs. Long Short-Term Memory (LSTM, W=14)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02  //  INTRODUCTION</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The Forecasting Challenge: Chaotic Dynamics in European Atmosphere</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Why standard linear statistical methods fall short in synoptic meteorological prediction</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02</a:t>
            </a:r>
          </a:p>
        </p:txBody>
      </p:sp>
      <p:sp>
        <p:nvSpPr>
          <p:cNvPr id="7" name="Rounded Rectangle 6"/>
          <p:cNvSpPr/>
          <p:nvPr/>
        </p:nvSpPr>
        <p:spPr>
          <a:xfrm>
            <a:off x="7315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834640" cy="411480"/>
          </a:xfrm>
          <a:prstGeom prst="rect">
            <a:avLst/>
          </a:prstGeom>
          <a:noFill/>
        </p:spPr>
        <p:txBody>
          <a:bodyPr wrap="square">
            <a:spAutoFit/>
          </a:bodyPr>
          <a:lstStyle/>
          <a:p>
            <a:pPr>
              <a:defRPr sz="1400" b="1">
                <a:solidFill>
                  <a:srgbClr val="38BDF8"/>
                </a:solidFill>
                <a:latin typeface="Calibri"/>
              </a:defRPr>
            </a:pPr>
            <a:r>
              <a:t>The Problem</a:t>
            </a:r>
          </a:p>
        </p:txBody>
      </p:sp>
      <p:sp>
        <p:nvSpPr>
          <p:cNvPr id="9" name="TextBox 8"/>
          <p:cNvSpPr txBox="1"/>
          <p:nvPr/>
        </p:nvSpPr>
        <p:spPr>
          <a:xfrm>
            <a:off x="9601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Atmospheric turbulence exhibits high non-linearity and chaotic sensitivity (Lorenz attractor).</a:t>
            </a:r>
          </a:p>
          <a:p>
            <a:pPr>
              <a:spcAft>
                <a:spcPts val="800"/>
              </a:spcAft>
              <a:defRPr sz="1100">
                <a:solidFill>
                  <a:srgbClr val="F8FAFC"/>
                </a:solidFill>
                <a:latin typeface="Calibri"/>
              </a:defRPr>
            </a:pPr>
            <a:r>
              <a:t>•  Standard statistical models (ARIMA, linear regression) assume stationarity and struggle with long-range lag dependencies.</a:t>
            </a:r>
          </a:p>
          <a:p>
            <a:pPr>
              <a:spcAft>
                <a:spcPts val="800"/>
              </a:spcAft>
              <a:defRPr sz="1100">
                <a:solidFill>
                  <a:srgbClr val="F8FAFC"/>
                </a:solidFill>
                <a:latin typeface="Calibri"/>
              </a:defRPr>
            </a:pPr>
            <a:r>
              <a:t>•  Local weather at a given city is heavily driven by upstream frontal movements hundreds of kilometers away.</a:t>
            </a:r>
          </a:p>
        </p:txBody>
      </p:sp>
      <p:sp>
        <p:nvSpPr>
          <p:cNvPr id="10" name="Rounded Rectangle 9"/>
          <p:cNvSpPr/>
          <p:nvPr/>
        </p:nvSpPr>
        <p:spPr>
          <a:xfrm>
            <a:off x="43891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03120"/>
            <a:ext cx="2834640" cy="411480"/>
          </a:xfrm>
          <a:prstGeom prst="rect">
            <a:avLst/>
          </a:prstGeom>
          <a:noFill/>
        </p:spPr>
        <p:txBody>
          <a:bodyPr wrap="square">
            <a:spAutoFit/>
          </a:bodyPr>
          <a:lstStyle/>
          <a:p>
            <a:pPr>
              <a:defRPr sz="1400" b="1">
                <a:solidFill>
                  <a:srgbClr val="34D399"/>
                </a:solidFill>
                <a:latin typeface="Calibri"/>
              </a:defRPr>
            </a:pPr>
            <a:r>
              <a:t>Research Objectives</a:t>
            </a:r>
          </a:p>
        </p:txBody>
      </p:sp>
      <p:sp>
        <p:nvSpPr>
          <p:cNvPr id="12" name="TextBox 11"/>
          <p:cNvSpPr txBox="1"/>
          <p:nvPr/>
        </p:nvSpPr>
        <p:spPr>
          <a:xfrm>
            <a:off x="46177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Conduct empirical data integrity audits and stationarity assessment on 10 consecutive years of daily records.</a:t>
            </a:r>
          </a:p>
          <a:p>
            <a:pPr>
              <a:spcAft>
                <a:spcPts val="800"/>
              </a:spcAft>
              <a:defRPr sz="1100">
                <a:solidFill>
                  <a:srgbClr val="F8FAFC"/>
                </a:solidFill>
                <a:latin typeface="Calibri"/>
              </a:defRPr>
            </a:pPr>
            <a:r>
              <a:t>•  Derive optimal temporal lookback window length (W) utilizing ACF and PACF diagnostics.</a:t>
            </a:r>
          </a:p>
          <a:p>
            <a:pPr>
              <a:spcAft>
                <a:spcPts val="800"/>
              </a:spcAft>
              <a:defRPr sz="1100">
                <a:solidFill>
                  <a:srgbClr val="F8FAFC"/>
                </a:solidFill>
                <a:latin typeface="Calibri"/>
              </a:defRPr>
            </a:pPr>
            <a:r>
              <a:t>•  Evaluate Multi-Layer Perceptrons (MLP) against Recurrent Neural Networks (LSTM) for multi-target forecasting.</a:t>
            </a:r>
          </a:p>
        </p:txBody>
      </p:sp>
      <p:sp>
        <p:nvSpPr>
          <p:cNvPr id="13" name="Rounded Rectangle 12"/>
          <p:cNvSpPr/>
          <p:nvPr/>
        </p:nvSpPr>
        <p:spPr>
          <a:xfrm>
            <a:off x="80467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03120"/>
            <a:ext cx="2834640" cy="411480"/>
          </a:xfrm>
          <a:prstGeom prst="rect">
            <a:avLst/>
          </a:prstGeom>
          <a:noFill/>
        </p:spPr>
        <p:txBody>
          <a:bodyPr wrap="square">
            <a:spAutoFit/>
          </a:bodyPr>
          <a:lstStyle/>
          <a:p>
            <a:pPr>
              <a:defRPr sz="1400" b="1">
                <a:solidFill>
                  <a:srgbClr val="FBBF24"/>
                </a:solidFill>
                <a:latin typeface="Calibri"/>
              </a:defRPr>
            </a:pPr>
            <a:r>
              <a:t>Business &amp; Societal Value</a:t>
            </a:r>
          </a:p>
        </p:txBody>
      </p:sp>
      <p:sp>
        <p:nvSpPr>
          <p:cNvPr id="15" name="TextBox 14"/>
          <p:cNvSpPr txBox="1"/>
          <p:nvPr/>
        </p:nvSpPr>
        <p:spPr>
          <a:xfrm>
            <a:off x="82753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Renewable energy grid balancing: Solar and wind generation fluctuate directly with cloud cover and frontal passages.</a:t>
            </a:r>
          </a:p>
          <a:p>
            <a:pPr>
              <a:spcAft>
                <a:spcPts val="800"/>
              </a:spcAft>
              <a:defRPr sz="1100">
                <a:solidFill>
                  <a:srgbClr val="F8FAFC"/>
                </a:solidFill>
                <a:latin typeface="Calibri"/>
              </a:defRPr>
            </a:pPr>
            <a:r>
              <a:t>•  Agriculture and logistics: Mitigating multi-million dollar freeze and precipitation risks.</a:t>
            </a:r>
          </a:p>
          <a:p>
            <a:pPr>
              <a:spcAft>
                <a:spcPts val="800"/>
              </a:spcAft>
              <a:defRPr sz="1100">
                <a:solidFill>
                  <a:srgbClr val="F8FAFC"/>
                </a:solidFill>
                <a:latin typeface="Calibri"/>
              </a:defRPr>
            </a:pPr>
            <a:r>
              <a:t>•  Consumer decision analytics: Predicting reliable outdoor leisure indices under severe class imbalance.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03  //  DATASET &amp; THEORY</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Empirical Dataset: European Climate Assessment &amp; Dataset (ECA&amp;D)</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3,654 daily multi-variate observations across 18 European weather stations (2000–2010)</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03</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38BDF8"/>
                </a:solidFill>
                <a:latin typeface="Calibri"/>
              </a:defRPr>
            </a:pPr>
            <a:r>
              <a:t>Dataset Structure &amp; Quality Audit</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Temporal Span: 2000-01-01 to 2010-01-01 (10 full years = 3,654 continuous daily steps).</a:t>
            </a:r>
          </a:p>
          <a:p>
            <a:pPr>
              <a:spcAft>
                <a:spcPts val="800"/>
              </a:spcAft>
              <a:defRPr sz="1100">
                <a:solidFill>
                  <a:srgbClr val="F8FAFC"/>
                </a:solidFill>
                <a:latin typeface="Calibri"/>
              </a:defRPr>
            </a:pPr>
            <a:r>
              <a:t>•  Spatial Coverage: 18 representative weather stations spanning 9 European climate zones (Klein Tank et al., 2002).</a:t>
            </a:r>
          </a:p>
          <a:p>
            <a:pPr>
              <a:spcAft>
                <a:spcPts val="800"/>
              </a:spcAft>
              <a:defRPr sz="1100">
                <a:solidFill>
                  <a:srgbClr val="F8FAFC"/>
                </a:solidFill>
                <a:latin typeface="Calibri"/>
              </a:defRPr>
            </a:pPr>
            <a:r>
              <a:t>•  Feature Space: 165 raw meteorological variables (temperature mean/min/max, pressure, precipitation, clouds, radiation).</a:t>
            </a:r>
          </a:p>
          <a:p>
            <a:pPr>
              <a:spcAft>
                <a:spcPts val="800"/>
              </a:spcAft>
              <a:defRPr sz="1100">
                <a:solidFill>
                  <a:srgbClr val="F8FAFC"/>
                </a:solidFill>
                <a:latin typeface="Calibri"/>
              </a:defRPr>
            </a:pPr>
            <a:r>
              <a:t>•  Integrity Verification: Passed 0 missing dates, 0 duplicate timestamps, and 0 corrupt sentinel codes (-9999).</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34D399"/>
                </a:solidFill>
                <a:latin typeface="Calibri"/>
              </a:defRPr>
            </a:pPr>
            <a:r>
              <a:t>Core Prediction Targets</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Continuous Target (Regression): Next-day mean temperature (T+1) at Basel, Switzerland (μ = 10.4°C, σ = 7.8°C).</a:t>
            </a:r>
          </a:p>
          <a:p>
            <a:pPr>
              <a:spcAft>
                <a:spcPts val="800"/>
              </a:spcAft>
              <a:defRPr sz="1100">
                <a:solidFill>
                  <a:srgbClr val="F8FAFC"/>
                </a:solidFill>
                <a:latin typeface="Calibri"/>
              </a:defRPr>
            </a:pPr>
            <a:r>
              <a:t>•  Binary Target (Classification): Next-day picnic weather suitability (Y+1) — comfortable, warm, dry conditions.</a:t>
            </a:r>
          </a:p>
          <a:p>
            <a:pPr>
              <a:spcAft>
                <a:spcPts val="800"/>
              </a:spcAft>
              <a:defRPr sz="1100">
                <a:solidFill>
                  <a:srgbClr val="F8FAFC"/>
                </a:solidFill>
                <a:latin typeface="Calibri"/>
              </a:defRPr>
            </a:pPr>
            <a:r>
              <a:t>•  Severe Class Imbalance: ~75% negative days vs. ~25% positive days in Central Europe.</a:t>
            </a:r>
          </a:p>
          <a:p>
            <a:pPr>
              <a:spcAft>
                <a:spcPts val="800"/>
              </a:spcAft>
              <a:defRPr sz="1100">
                <a:solidFill>
                  <a:srgbClr val="F8FAFC"/>
                </a:solidFill>
                <a:latin typeface="Calibri"/>
              </a:defRPr>
            </a:pPr>
            <a:r>
              <a:t>•  Mitigation Strategy: Applied Weighted Binary Cross-Entropy with pos_weight ≈ 2.9 to avoid trivial majority-class collapse.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04  //  ARCHITECTURE</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Deep Learning Architectures: Feedforward MLP vs. Recurrent LSTM</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Contrasting static vector inputs against chronological sequence memory</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04</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FBBF24"/>
                </a:solidFill>
                <a:latin typeface="Calibri"/>
              </a:defRPr>
            </a:pPr>
            <a:r>
              <a:t>Multi-Layer Perceptron (MLP) Baseline</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Input Representation: Flattened 2D feature matrix [Batch, Total Features].</a:t>
            </a:r>
          </a:p>
          <a:p>
            <a:pPr>
              <a:spcAft>
                <a:spcPts val="800"/>
              </a:spcAft>
              <a:defRPr sz="1100">
                <a:solidFill>
                  <a:srgbClr val="F8FAFC"/>
                </a:solidFill>
                <a:latin typeface="Calibri"/>
              </a:defRPr>
            </a:pPr>
            <a:r>
              <a:t>•  Architecture: 3 dense layers (256 → 128 → 64) with GELU activations, BatchNorm, and Dropout (0.3).</a:t>
            </a:r>
          </a:p>
          <a:p>
            <a:pPr>
              <a:spcAft>
                <a:spcPts val="800"/>
              </a:spcAft>
              <a:defRPr sz="1100">
                <a:solidFill>
                  <a:srgbClr val="F8FAFC"/>
                </a:solidFill>
                <a:latin typeface="Calibri"/>
              </a:defRPr>
            </a:pPr>
            <a:r>
              <a:t>•  Fundamental Limitation: Treats historical lags as independent static dimensions; cannot naturally capture variable sequential order.</a:t>
            </a:r>
          </a:p>
          <a:p>
            <a:pPr>
              <a:spcAft>
                <a:spcPts val="800"/>
              </a:spcAft>
              <a:defRPr sz="1100">
                <a:solidFill>
                  <a:srgbClr val="F8FAFC"/>
                </a:solidFill>
                <a:latin typeface="Calibri"/>
              </a:defRPr>
            </a:pPr>
            <a:r>
              <a:t>•  Risk: Prone to parameter explosion when expanding temporal history.</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38BDF8"/>
                </a:solidFill>
                <a:latin typeface="Calibri"/>
              </a:defRPr>
            </a:pPr>
            <a:r>
              <a:t>Long Short-Term Memory (LSTM) Architecture</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Input Representation: 3D temporal sequence tensor [Batch, Sequence Length = 14, Features].</a:t>
            </a:r>
          </a:p>
          <a:p>
            <a:pPr>
              <a:spcAft>
                <a:spcPts val="800"/>
              </a:spcAft>
              <a:defRPr sz="1100">
                <a:solidFill>
                  <a:srgbClr val="F8FAFC"/>
                </a:solidFill>
                <a:latin typeface="Calibri"/>
              </a:defRPr>
            </a:pPr>
            <a:r>
              <a:t>•  Gated Memory Cells: Forget gate (f_t), Input gate (i_t), and Output gate (o_t) regulate cell state (c_t) over time.</a:t>
            </a:r>
          </a:p>
          <a:p>
            <a:pPr>
              <a:spcAft>
                <a:spcPts val="800"/>
              </a:spcAft>
              <a:defRPr sz="1100">
                <a:solidFill>
                  <a:srgbClr val="F8FAFC"/>
                </a:solidFill>
                <a:latin typeface="Calibri"/>
              </a:defRPr>
            </a:pPr>
            <a:r>
              <a:t>•  Vanishing Gradient Solution: Additive constant error carousel prevents historical attenuation over 14 days (Hochreiter &amp; Schmidhuber, 1997).</a:t>
            </a:r>
          </a:p>
          <a:p>
            <a:pPr>
              <a:spcAft>
                <a:spcPts val="800"/>
              </a:spcAft>
              <a:defRPr sz="1100">
                <a:solidFill>
                  <a:srgbClr val="F8FAFC"/>
                </a:solidFill>
                <a:latin typeface="Calibri"/>
              </a:defRPr>
            </a:pPr>
            <a:r>
              <a:t>•  Classification Head: Hidden state of final time step (h_14) fed to dense projection layer with BCEWithLogitsLoss.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05  //  METHODOLOGY</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End-to-End Pipeline: From Raw Observations to Neural Inference</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A 4-stage chronological framework ensuring zero look-ahead data leakage</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05</a:t>
            </a:r>
          </a:p>
        </p:txBody>
      </p:sp>
      <p:sp>
        <p:nvSpPr>
          <p:cNvPr id="7" name="Rounded Rectangle 6"/>
          <p:cNvSpPr/>
          <p:nvPr/>
        </p:nvSpPr>
        <p:spPr>
          <a:xfrm>
            <a:off x="731520" y="1920240"/>
            <a:ext cx="24688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011680" cy="411480"/>
          </a:xfrm>
          <a:prstGeom prst="rect">
            <a:avLst/>
          </a:prstGeom>
          <a:noFill/>
        </p:spPr>
        <p:txBody>
          <a:bodyPr wrap="square">
            <a:spAutoFit/>
          </a:bodyPr>
          <a:lstStyle/>
          <a:p>
            <a:pPr>
              <a:defRPr sz="1400" b="1">
                <a:solidFill>
                  <a:srgbClr val="38BDF8"/>
                </a:solidFill>
                <a:latin typeface="Calibri"/>
              </a:defRPr>
            </a:pPr>
            <a:r>
              <a:t>1. Ingestion &amp; Audit</a:t>
            </a:r>
          </a:p>
        </p:txBody>
      </p:sp>
      <p:sp>
        <p:nvSpPr>
          <p:cNvPr id="9" name="TextBox 8"/>
          <p:cNvSpPr txBox="1"/>
          <p:nvPr/>
        </p:nvSpPr>
        <p:spPr>
          <a:xfrm>
            <a:off x="960120" y="2560320"/>
            <a:ext cx="2011680" cy="3383280"/>
          </a:xfrm>
          <a:prstGeom prst="rect">
            <a:avLst/>
          </a:prstGeom>
          <a:noFill/>
        </p:spPr>
        <p:txBody>
          <a:bodyPr wrap="square">
            <a:spAutoFit/>
          </a:bodyPr>
          <a:lstStyle/>
          <a:p>
            <a:pPr>
              <a:spcAft>
                <a:spcPts val="800"/>
              </a:spcAft>
              <a:defRPr sz="1100">
                <a:solidFill>
                  <a:srgbClr val="F8FAFC"/>
                </a:solidFill>
                <a:latin typeface="Calibri"/>
              </a:defRPr>
            </a:pPr>
            <a:r>
              <a:t>•  Merge 165 continuous weather series with ground-truth binary labels.</a:t>
            </a:r>
          </a:p>
          <a:p>
            <a:pPr>
              <a:spcAft>
                <a:spcPts val="800"/>
              </a:spcAft>
              <a:defRPr sz="1100">
                <a:solidFill>
                  <a:srgbClr val="F8FAFC"/>
                </a:solidFill>
                <a:latin typeface="Calibri"/>
              </a:defRPr>
            </a:pPr>
            <a:r>
              <a:t>•  Zero-gap timestamp indexing across 3,654 daily steps.</a:t>
            </a:r>
          </a:p>
          <a:p>
            <a:pPr>
              <a:spcAft>
                <a:spcPts val="800"/>
              </a:spcAft>
              <a:defRPr sz="1100">
                <a:solidFill>
                  <a:srgbClr val="F8FAFC"/>
                </a:solidFill>
                <a:latin typeface="Calibri"/>
              </a:defRPr>
            </a:pPr>
            <a:r>
              <a:t>•  Statistical IQR outlier screening to differentiate sensor noise from genuine cold waves.</a:t>
            </a:r>
          </a:p>
        </p:txBody>
      </p:sp>
      <p:sp>
        <p:nvSpPr>
          <p:cNvPr id="10" name="Rounded Rectangle 9"/>
          <p:cNvSpPr/>
          <p:nvPr/>
        </p:nvSpPr>
        <p:spPr>
          <a:xfrm>
            <a:off x="3474720" y="1920240"/>
            <a:ext cx="24688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103120"/>
            <a:ext cx="2011680" cy="411480"/>
          </a:xfrm>
          <a:prstGeom prst="rect">
            <a:avLst/>
          </a:prstGeom>
          <a:noFill/>
        </p:spPr>
        <p:txBody>
          <a:bodyPr wrap="square">
            <a:spAutoFit/>
          </a:bodyPr>
          <a:lstStyle/>
          <a:p>
            <a:pPr>
              <a:defRPr sz="1400" b="1">
                <a:solidFill>
                  <a:srgbClr val="34D399"/>
                </a:solidFill>
                <a:latin typeface="Calibri"/>
              </a:defRPr>
            </a:pPr>
            <a:r>
              <a:t>2. Stationarity &amp; ACF</a:t>
            </a:r>
          </a:p>
        </p:txBody>
      </p:sp>
      <p:sp>
        <p:nvSpPr>
          <p:cNvPr id="12" name="TextBox 11"/>
          <p:cNvSpPr txBox="1"/>
          <p:nvPr/>
        </p:nvSpPr>
        <p:spPr>
          <a:xfrm>
            <a:off x="3703320" y="2560320"/>
            <a:ext cx="2011680" cy="3383280"/>
          </a:xfrm>
          <a:prstGeom prst="rect">
            <a:avLst/>
          </a:prstGeom>
          <a:noFill/>
        </p:spPr>
        <p:txBody>
          <a:bodyPr wrap="square">
            <a:spAutoFit/>
          </a:bodyPr>
          <a:lstStyle/>
          <a:p>
            <a:pPr>
              <a:spcAft>
                <a:spcPts val="800"/>
              </a:spcAft>
              <a:defRPr sz="1100">
                <a:solidFill>
                  <a:srgbClr val="F8FAFC"/>
                </a:solidFill>
                <a:latin typeface="Calibri"/>
              </a:defRPr>
            </a:pPr>
            <a:r>
              <a:t>•  Augmented Dickey-Fuller (ADF) hypothesis test on raw vs. differenced series.</a:t>
            </a:r>
          </a:p>
          <a:p>
            <a:pPr>
              <a:spcAft>
                <a:spcPts val="800"/>
              </a:spcAft>
              <a:defRPr sz="1100">
                <a:solidFill>
                  <a:srgbClr val="F8FAFC"/>
                </a:solidFill>
                <a:latin typeface="Calibri"/>
              </a:defRPr>
            </a:pPr>
            <a:r>
              <a:t>•  ACF &amp; PACF correlogram analysis to pinpoint temporal cutoff.</a:t>
            </a:r>
          </a:p>
          <a:p>
            <a:pPr>
              <a:spcAft>
                <a:spcPts val="800"/>
              </a:spcAft>
              <a:defRPr sz="1100">
                <a:solidFill>
                  <a:srgbClr val="F8FAFC"/>
                </a:solidFill>
                <a:latin typeface="Calibri"/>
              </a:defRPr>
            </a:pPr>
            <a:r>
              <a:t>•  Empirical derivation of optimal 14-day LSTM sequence length.</a:t>
            </a:r>
          </a:p>
        </p:txBody>
      </p:sp>
      <p:sp>
        <p:nvSpPr>
          <p:cNvPr id="13" name="Rounded Rectangle 12"/>
          <p:cNvSpPr/>
          <p:nvPr/>
        </p:nvSpPr>
        <p:spPr>
          <a:xfrm>
            <a:off x="6217920" y="1920240"/>
            <a:ext cx="24688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103120"/>
            <a:ext cx="2011680" cy="411480"/>
          </a:xfrm>
          <a:prstGeom prst="rect">
            <a:avLst/>
          </a:prstGeom>
          <a:noFill/>
        </p:spPr>
        <p:txBody>
          <a:bodyPr wrap="square">
            <a:spAutoFit/>
          </a:bodyPr>
          <a:lstStyle/>
          <a:p>
            <a:pPr>
              <a:defRPr sz="1400" b="1">
                <a:solidFill>
                  <a:srgbClr val="FBBF24"/>
                </a:solidFill>
                <a:latin typeface="Calibri"/>
              </a:defRPr>
            </a:pPr>
            <a:r>
              <a:t>3. Feature Pipeline</a:t>
            </a:r>
          </a:p>
        </p:txBody>
      </p:sp>
      <p:sp>
        <p:nvSpPr>
          <p:cNvPr id="15" name="TextBox 14"/>
          <p:cNvSpPr txBox="1"/>
          <p:nvPr/>
        </p:nvSpPr>
        <p:spPr>
          <a:xfrm>
            <a:off x="6446520" y="2560320"/>
            <a:ext cx="2011680" cy="3383280"/>
          </a:xfrm>
          <a:prstGeom prst="rect">
            <a:avLst/>
          </a:prstGeom>
          <a:noFill/>
        </p:spPr>
        <p:txBody>
          <a:bodyPr wrap="square">
            <a:spAutoFit/>
          </a:bodyPr>
          <a:lstStyle/>
          <a:p>
            <a:pPr>
              <a:spcAft>
                <a:spcPts val="800"/>
              </a:spcAft>
              <a:defRPr sz="1100">
                <a:solidFill>
                  <a:srgbClr val="F8FAFC"/>
                </a:solidFill>
                <a:latin typeface="Calibri"/>
              </a:defRPr>
            </a:pPr>
            <a:r>
              <a:t>•  Cyclical sin/cos encodings for month and day-of-year harmonics.</a:t>
            </a:r>
          </a:p>
          <a:p>
            <a:pPr>
              <a:spcAft>
                <a:spcPts val="800"/>
              </a:spcAft>
              <a:defRPr sz="1100">
                <a:solidFill>
                  <a:srgbClr val="F8FAFC"/>
                </a:solidFill>
                <a:latin typeface="Calibri"/>
              </a:defRPr>
            </a:pPr>
            <a:r>
              <a:t>•  Multi-scale rolling statistics (3d, 7d, 14d mean/std/min/max).</a:t>
            </a:r>
          </a:p>
          <a:p>
            <a:pPr>
              <a:spcAft>
                <a:spcPts val="800"/>
              </a:spcAft>
              <a:defRPr sz="1100">
                <a:solidFill>
                  <a:srgbClr val="F8FAFC"/>
                </a:solidFill>
                <a:latin typeface="Calibri"/>
              </a:defRPr>
            </a:pPr>
            <a:r>
              <a:t>•  Spatial pressure differentials (ΔP) tracking upstream fronts.</a:t>
            </a:r>
          </a:p>
        </p:txBody>
      </p:sp>
      <p:sp>
        <p:nvSpPr>
          <p:cNvPr id="16" name="Rounded Rectangle 15"/>
          <p:cNvSpPr/>
          <p:nvPr/>
        </p:nvSpPr>
        <p:spPr>
          <a:xfrm>
            <a:off x="8961120" y="1920240"/>
            <a:ext cx="24688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103120"/>
            <a:ext cx="2011680" cy="411480"/>
          </a:xfrm>
          <a:prstGeom prst="rect">
            <a:avLst/>
          </a:prstGeom>
          <a:noFill/>
        </p:spPr>
        <p:txBody>
          <a:bodyPr wrap="square">
            <a:spAutoFit/>
          </a:bodyPr>
          <a:lstStyle/>
          <a:p>
            <a:pPr>
              <a:defRPr sz="1400" b="1">
                <a:solidFill>
                  <a:srgbClr val="38BDF8"/>
                </a:solidFill>
                <a:latin typeface="Calibri"/>
              </a:defRPr>
            </a:pPr>
            <a:r>
              <a:t>4. Split &amp; Normalization</a:t>
            </a:r>
          </a:p>
        </p:txBody>
      </p:sp>
      <p:sp>
        <p:nvSpPr>
          <p:cNvPr id="18" name="TextBox 17"/>
          <p:cNvSpPr txBox="1"/>
          <p:nvPr/>
        </p:nvSpPr>
        <p:spPr>
          <a:xfrm>
            <a:off x="9189720" y="2560320"/>
            <a:ext cx="2011680" cy="3383280"/>
          </a:xfrm>
          <a:prstGeom prst="rect">
            <a:avLst/>
          </a:prstGeom>
          <a:noFill/>
        </p:spPr>
        <p:txBody>
          <a:bodyPr wrap="square">
            <a:spAutoFit/>
          </a:bodyPr>
          <a:lstStyle/>
          <a:p>
            <a:pPr>
              <a:spcAft>
                <a:spcPts val="800"/>
              </a:spcAft>
              <a:defRPr sz="1100">
                <a:solidFill>
                  <a:srgbClr val="F8FAFC"/>
                </a:solidFill>
                <a:latin typeface="Calibri"/>
              </a:defRPr>
            </a:pPr>
            <a:r>
              <a:t>•  Chronological splits: Train (2000–2006, 70%), Val (2007–2008, 20%), Test (2009–2010, 10%).</a:t>
            </a:r>
          </a:p>
          <a:p>
            <a:pPr>
              <a:spcAft>
                <a:spcPts val="800"/>
              </a:spcAft>
              <a:defRPr sz="1100">
                <a:solidFill>
                  <a:srgbClr val="F8FAFC"/>
                </a:solidFill>
                <a:latin typeface="Calibri"/>
              </a:defRPr>
            </a:pPr>
            <a:r>
              <a:t>•  Strict Train-Only StandardScaler fitting to prevent data leakage.</a:t>
            </a:r>
          </a:p>
          <a:p>
            <a:pPr>
              <a:spcAft>
                <a:spcPts val="800"/>
              </a:spcAft>
              <a:defRPr sz="1100">
                <a:solidFill>
                  <a:srgbClr val="F8FAFC"/>
                </a:solidFill>
                <a:latin typeface="Calibri"/>
              </a:defRPr>
            </a:pPr>
            <a:r>
              <a:t>•  PyTorch DataLoader generation with batch size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06  //  TIME-SERIES DYNAMICS</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Stationarity Testing (ADF) &amp; Empirical Window Length Selection</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Justifying W = 14 Days through PACF truncation and European synoptic cyclone cycles</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06</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38BDF8"/>
                </a:solidFill>
                <a:latin typeface="Calibri"/>
              </a:defRPr>
            </a:pPr>
            <a:r>
              <a:t>Stationarity Check: Augmented Dickey-Fuller</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Raw Temperature ADF: Stat = -4.70 (p = 1.04 × 10⁻⁴) → Rejects unit root in mean, but exhibits strong seasonal variance shifts.</a:t>
            </a:r>
          </a:p>
          <a:p>
            <a:pPr>
              <a:spcAft>
                <a:spcPts val="800"/>
              </a:spcAft>
              <a:defRPr sz="1100">
                <a:solidFill>
                  <a:srgbClr val="F8FAFC"/>
                </a:solidFill>
                <a:latin typeface="Calibri"/>
              </a:defRPr>
            </a:pPr>
            <a:r>
              <a:t>•  First-Differenced ADF: Stat = -17.35 (p = 5.28 × 10⁻³⁰) → Confirms strict mathematical stationarity.</a:t>
            </a:r>
          </a:p>
          <a:p>
            <a:pPr>
              <a:spcAft>
                <a:spcPts val="800"/>
              </a:spcAft>
              <a:defRPr sz="1100">
                <a:solidFill>
                  <a:srgbClr val="F8FAFC"/>
                </a:solidFill>
                <a:latin typeface="Calibri"/>
              </a:defRPr>
            </a:pPr>
            <a:r>
              <a:t>•  Transformation Strategy: Instead of pure differencing (which strips physical temperature scale), we preserve raw levels and supply cyclical sine/cosine time embeddings to the neural network.</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34D399"/>
                </a:solidFill>
                <a:latin typeface="Calibri"/>
              </a:defRPr>
            </a:pPr>
            <a:r>
              <a:t>Window Length Justification (W = 14 Days)</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Autocorrelation (ACF): Strong 365-day harmonic peak (r ≈ 0.74) confirms annual periodicity.</a:t>
            </a:r>
          </a:p>
          <a:p>
            <a:pPr>
              <a:spcAft>
                <a:spcPts val="800"/>
              </a:spcAft>
              <a:defRPr sz="1100">
                <a:solidFill>
                  <a:srgbClr val="F8FAFC"/>
                </a:solidFill>
                <a:latin typeface="Calibri"/>
              </a:defRPr>
            </a:pPr>
            <a:r>
              <a:t>•  Partial Autocorrelation (PACF): Direct autoregressive dependency drops sharply after Lag 3–5.</a:t>
            </a:r>
          </a:p>
          <a:p>
            <a:pPr>
              <a:spcAft>
                <a:spcPts val="800"/>
              </a:spcAft>
              <a:defRPr sz="1100">
                <a:solidFill>
                  <a:srgbClr val="F8FAFC"/>
                </a:solidFill>
                <a:latin typeface="Calibri"/>
              </a:defRPr>
            </a:pPr>
            <a:r>
              <a:t>•  Synoptic Meteorological Justification: Atlantic frontal systems (mid-latitude cyclones) traverse Western Europe in ~5–7 days.</a:t>
            </a:r>
          </a:p>
          <a:p>
            <a:pPr>
              <a:spcAft>
                <a:spcPts val="800"/>
              </a:spcAft>
              <a:defRPr sz="1100">
                <a:solidFill>
                  <a:srgbClr val="F8FAFC"/>
                </a:solidFill>
                <a:latin typeface="Calibri"/>
              </a:defRPr>
            </a:pPr>
            <a:r>
              <a:t>•  A sequence window of W = 14 Days captures two complete cyclone passage cycles, giving the LSTM optimal context without redundant computational overhead.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07  //  SPATIAL DYNAMICS</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Spatial Lead-Lag Dynamics: Upstream Atlantic Front Tracking</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Leveraging high cross-station correlation (r &gt; 0.85) to predict Swiss weather 24–48 hours ahead</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07</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38BDF8"/>
                </a:solidFill>
                <a:latin typeface="Calibri"/>
              </a:defRPr>
            </a:pPr>
            <a:r>
              <a:t>West-to-East Atmospheric Advection</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Dominant European airflow follows westerly jet streams: Atlantic Ocean → UK/France → Central Europe.</a:t>
            </a:r>
          </a:p>
          <a:p>
            <a:pPr>
              <a:spcAft>
                <a:spcPts val="800"/>
              </a:spcAft>
              <a:defRPr sz="1100">
                <a:solidFill>
                  <a:srgbClr val="F8FAFC"/>
                </a:solidFill>
                <a:latin typeface="Calibri"/>
              </a:defRPr>
            </a:pPr>
            <a:r>
              <a:t>•  Weather disturbances travel at approximately 400 to 800 kilometers per day.</a:t>
            </a:r>
          </a:p>
          <a:p>
            <a:pPr>
              <a:spcAft>
                <a:spcPts val="800"/>
              </a:spcAft>
              <a:defRPr sz="1100">
                <a:solidFill>
                  <a:srgbClr val="F8FAFC"/>
                </a:solidFill>
                <a:latin typeface="Calibri"/>
              </a:defRPr>
            </a:pPr>
            <a:r>
              <a:t>•  Spatial Cross-Correlation: Basel temperature correlates strongly with upstream stations: Heathrow (r = 0.86), Tours (r = 0.91), De Bilt (r = 0.89).</a:t>
            </a:r>
          </a:p>
          <a:p>
            <a:pPr>
              <a:spcAft>
                <a:spcPts val="800"/>
              </a:spcAft>
              <a:defRPr sz="1100">
                <a:solidFill>
                  <a:srgbClr val="F8FAFC"/>
                </a:solidFill>
                <a:latin typeface="Calibri"/>
              </a:defRPr>
            </a:pPr>
            <a:r>
              <a:t>•  Spatial Differentials (ΔP): Rapid barometric pressure drops at Heathrow precede Swiss storm events by 24 to 48 hours.</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FBBF24"/>
                </a:solidFill>
                <a:latin typeface="Calibri"/>
              </a:defRPr>
            </a:pPr>
            <a:r>
              <a:t>Real-World Upstream Case Study</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Case: Sudden Atlantic low-pressure system (992 hPa) recorded at Heathrow.</a:t>
            </a:r>
          </a:p>
          <a:p>
            <a:pPr>
              <a:spcAft>
                <a:spcPts val="800"/>
              </a:spcAft>
              <a:defRPr sz="1100">
                <a:solidFill>
                  <a:srgbClr val="F8FAFC"/>
                </a:solidFill>
                <a:latin typeface="Calibri"/>
              </a:defRPr>
            </a:pPr>
            <a:r>
              <a:t>•  Local Basel Station: Currently clear, 1018 hPa, warm (deceptively pleasant).</a:t>
            </a:r>
          </a:p>
          <a:p>
            <a:pPr>
              <a:spcAft>
                <a:spcPts val="800"/>
              </a:spcAft>
              <a:defRPr sz="1100">
                <a:solidFill>
                  <a:srgbClr val="F8FAFC"/>
                </a:solidFill>
                <a:latin typeface="Calibri"/>
              </a:defRPr>
            </a:pPr>
            <a:r>
              <a:t>•  Single-Station Model: Predicts continued pleasant weather due to local persistence bias.</a:t>
            </a:r>
          </a:p>
          <a:p>
            <a:pPr>
              <a:spcAft>
                <a:spcPts val="800"/>
              </a:spcAft>
              <a:defRPr sz="1100">
                <a:solidFill>
                  <a:srgbClr val="F8FAFC"/>
                </a:solidFill>
                <a:latin typeface="Calibri"/>
              </a:defRPr>
            </a:pPr>
            <a:r>
              <a:t>•  Spatial LSTM Model: Detects high negative pressure gradient (ΔP = -26 hPa) and incoming cloud cover, correctly predicting severe rainfall and unsuitability in Basel 24 hours in advance.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08  //  APPLICATIONS</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Industrial &amp; Business Analytics Applications</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Translating multi-step weather neural predictions into high-impact operational decisions</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08</a:t>
            </a:r>
          </a:p>
        </p:txBody>
      </p:sp>
      <p:sp>
        <p:nvSpPr>
          <p:cNvPr id="7" name="Rounded Rectangle 6"/>
          <p:cNvSpPr/>
          <p:nvPr/>
        </p:nvSpPr>
        <p:spPr>
          <a:xfrm>
            <a:off x="7315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834640" cy="411480"/>
          </a:xfrm>
          <a:prstGeom prst="rect">
            <a:avLst/>
          </a:prstGeom>
          <a:noFill/>
        </p:spPr>
        <p:txBody>
          <a:bodyPr wrap="square">
            <a:spAutoFit/>
          </a:bodyPr>
          <a:lstStyle/>
          <a:p>
            <a:pPr>
              <a:defRPr sz="1400" b="1">
                <a:solidFill>
                  <a:srgbClr val="34D399"/>
                </a:solidFill>
                <a:latin typeface="Calibri"/>
              </a:defRPr>
            </a:pPr>
            <a:r>
              <a:t>Renewable Energy Grids</a:t>
            </a:r>
          </a:p>
        </p:txBody>
      </p:sp>
      <p:sp>
        <p:nvSpPr>
          <p:cNvPr id="9" name="TextBox 8"/>
          <p:cNvSpPr txBox="1"/>
          <p:nvPr/>
        </p:nvSpPr>
        <p:spPr>
          <a:xfrm>
            <a:off x="9601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Solar photovoltaic forecasting: Predicting cloud cover and global radiation allows utility operators to schedule grid backup.</a:t>
            </a:r>
          </a:p>
          <a:p>
            <a:pPr>
              <a:spcAft>
                <a:spcPts val="800"/>
              </a:spcAft>
              <a:defRPr sz="1100">
                <a:solidFill>
                  <a:srgbClr val="F8FAFC"/>
                </a:solidFill>
                <a:latin typeface="Calibri"/>
              </a:defRPr>
            </a:pPr>
            <a:r>
              <a:t>•  Wind farm load management: Synoptic pressure gradients correlate with turbine output, preventing grid frequency instability.</a:t>
            </a:r>
          </a:p>
          <a:p>
            <a:pPr>
              <a:spcAft>
                <a:spcPts val="800"/>
              </a:spcAft>
              <a:defRPr sz="1100">
                <a:solidFill>
                  <a:srgbClr val="F8FAFC"/>
                </a:solidFill>
                <a:latin typeface="Calibri"/>
              </a:defRPr>
            </a:pPr>
            <a:r>
              <a:t>•  Reduces costly spinning reserve fossil fuel generation.</a:t>
            </a:r>
          </a:p>
        </p:txBody>
      </p:sp>
      <p:sp>
        <p:nvSpPr>
          <p:cNvPr id="10" name="Rounded Rectangle 9"/>
          <p:cNvSpPr/>
          <p:nvPr/>
        </p:nvSpPr>
        <p:spPr>
          <a:xfrm>
            <a:off x="43891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03120"/>
            <a:ext cx="2834640" cy="411480"/>
          </a:xfrm>
          <a:prstGeom prst="rect">
            <a:avLst/>
          </a:prstGeom>
          <a:noFill/>
        </p:spPr>
        <p:txBody>
          <a:bodyPr wrap="square">
            <a:spAutoFit/>
          </a:bodyPr>
          <a:lstStyle/>
          <a:p>
            <a:pPr>
              <a:defRPr sz="1400" b="1">
                <a:solidFill>
                  <a:srgbClr val="38BDF8"/>
                </a:solidFill>
                <a:latin typeface="Calibri"/>
              </a:defRPr>
            </a:pPr>
            <a:r>
              <a:t>Agri-Tech &amp; Commodity Logistics</a:t>
            </a:r>
          </a:p>
        </p:txBody>
      </p:sp>
      <p:sp>
        <p:nvSpPr>
          <p:cNvPr id="12" name="TextBox 11"/>
          <p:cNvSpPr txBox="1"/>
          <p:nvPr/>
        </p:nvSpPr>
        <p:spPr>
          <a:xfrm>
            <a:off x="46177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Frost risk mitigation: Accurate next-day minimum temperature forecasts alert fruit orchards to deploy heating smudge pots.</a:t>
            </a:r>
          </a:p>
          <a:p>
            <a:pPr>
              <a:spcAft>
                <a:spcPts val="800"/>
              </a:spcAft>
              <a:defRPr sz="1100">
                <a:solidFill>
                  <a:srgbClr val="F8FAFC"/>
                </a:solidFill>
                <a:latin typeface="Calibri"/>
              </a:defRPr>
            </a:pPr>
            <a:r>
              <a:t>•  Precision irrigation scheduling based on rolling 14-day rainfall deficits.</a:t>
            </a:r>
          </a:p>
          <a:p>
            <a:pPr>
              <a:spcAft>
                <a:spcPts val="800"/>
              </a:spcAft>
              <a:defRPr sz="1100">
                <a:solidFill>
                  <a:srgbClr val="F8FAFC"/>
                </a:solidFill>
                <a:latin typeface="Calibri"/>
              </a:defRPr>
            </a:pPr>
            <a:r>
              <a:t>•  Optimizes harvest timing and cold-chain supply transport.</a:t>
            </a:r>
          </a:p>
        </p:txBody>
      </p:sp>
      <p:sp>
        <p:nvSpPr>
          <p:cNvPr id="13" name="Rounded Rectangle 12"/>
          <p:cNvSpPr/>
          <p:nvPr/>
        </p:nvSpPr>
        <p:spPr>
          <a:xfrm>
            <a:off x="80467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03120"/>
            <a:ext cx="2834640" cy="411480"/>
          </a:xfrm>
          <a:prstGeom prst="rect">
            <a:avLst/>
          </a:prstGeom>
          <a:noFill/>
        </p:spPr>
        <p:txBody>
          <a:bodyPr wrap="square">
            <a:spAutoFit/>
          </a:bodyPr>
          <a:lstStyle/>
          <a:p>
            <a:pPr>
              <a:defRPr sz="1400" b="1">
                <a:solidFill>
                  <a:srgbClr val="FBBF24"/>
                </a:solidFill>
                <a:latin typeface="Calibri"/>
              </a:defRPr>
            </a:pPr>
            <a:r>
              <a:t>Aviation &amp; Event Commerce</a:t>
            </a:r>
          </a:p>
        </p:txBody>
      </p:sp>
      <p:sp>
        <p:nvSpPr>
          <p:cNvPr id="15" name="TextBox 14"/>
          <p:cNvSpPr txBox="1"/>
          <p:nvPr/>
        </p:nvSpPr>
        <p:spPr>
          <a:xfrm>
            <a:off x="82753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Aviation terminal forecasts: Anticipating low cloud ceilings and shear along European corridors.</a:t>
            </a:r>
          </a:p>
          <a:p>
            <a:pPr>
              <a:spcAft>
                <a:spcPts val="800"/>
              </a:spcAft>
              <a:defRPr sz="1100">
                <a:solidFill>
                  <a:srgbClr val="F8FAFC"/>
                </a:solidFill>
                <a:latin typeface="Calibri"/>
              </a:defRPr>
            </a:pPr>
            <a:r>
              <a:t>•  Dynamic retail inventory: Supermarket demand for picnic goods and beverage supplies fluctuates with binary leisure weather.</a:t>
            </a:r>
          </a:p>
          <a:p>
            <a:pPr>
              <a:spcAft>
                <a:spcPts val="800"/>
              </a:spcAft>
              <a:defRPr sz="1100">
                <a:solidFill>
                  <a:srgbClr val="F8FAFC"/>
                </a:solidFill>
                <a:latin typeface="Calibri"/>
              </a:defRPr>
            </a:pPr>
            <a:r>
              <a:t>•  Outdoor venue insurance and dynamic ticket pricing optimization.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09  //  PERFORMANCE</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Empirical Performance &amp; Evaluation Metrics</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Quantitative comparison across classification and regression benchmarks</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09</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34D399"/>
                </a:solidFill>
                <a:latin typeface="Calibri"/>
              </a:defRPr>
            </a:pPr>
            <a:r>
              <a:t>Classification Performance (Picnic Target)</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Validation F1-Score: Reached 0.814 under optimal threshold tuning (τ = 0.42).</a:t>
            </a:r>
          </a:p>
          <a:p>
            <a:pPr>
              <a:spcAft>
                <a:spcPts val="800"/>
              </a:spcAft>
              <a:defRPr sz="1100">
                <a:solidFill>
                  <a:srgbClr val="F8FAFC"/>
                </a:solidFill>
                <a:latin typeface="Calibri"/>
              </a:defRPr>
            </a:pPr>
            <a:r>
              <a:t>•  ROC-AUC: Achieved 0.887, demonstrating strong discriminative separation between classes.</a:t>
            </a:r>
          </a:p>
          <a:p>
            <a:pPr>
              <a:spcAft>
                <a:spcPts val="800"/>
              </a:spcAft>
              <a:defRPr sz="1100">
                <a:solidFill>
                  <a:srgbClr val="F8FAFC"/>
                </a:solidFill>
                <a:latin typeface="Calibri"/>
              </a:defRPr>
            </a:pPr>
            <a:r>
              <a:t>•  Precision vs. Recall: Balanced at 78.2% Precision and 84.9% Recall using Weighted BCE (pos_weight = 2.9).</a:t>
            </a:r>
          </a:p>
          <a:p>
            <a:pPr>
              <a:spcAft>
                <a:spcPts val="800"/>
              </a:spcAft>
              <a:defRPr sz="1100">
                <a:solidFill>
                  <a:srgbClr val="F8FAFC"/>
                </a:solidFill>
                <a:latin typeface="Calibri"/>
              </a:defRPr>
            </a:pPr>
            <a:r>
              <a:t>•  Default Threshold (0.5) vs. Tuned (0.42): Increased F1 by ~4.2 percentage points by compensating for Central European climate skew.</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38BDF8"/>
                </a:solidFill>
                <a:latin typeface="Calibri"/>
              </a:defRPr>
            </a:pPr>
            <a:r>
              <a:t>Regression Accuracy &amp; Architectural Gains</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Next-Day Temperature RMSE: Reduced to 1.84°C (vs. baseline persistence RMSE of 2.62°C).</a:t>
            </a:r>
          </a:p>
          <a:p>
            <a:pPr>
              <a:spcAft>
                <a:spcPts val="800"/>
              </a:spcAft>
              <a:defRPr sz="1100">
                <a:solidFill>
                  <a:srgbClr val="F8FAFC"/>
                </a:solidFill>
                <a:latin typeface="Calibri"/>
              </a:defRPr>
            </a:pPr>
            <a:r>
              <a:t>•  Mean Absolute Error (MAE): 1.38°C on 2009–2010 holdout test set.</a:t>
            </a:r>
          </a:p>
          <a:p>
            <a:pPr>
              <a:spcAft>
                <a:spcPts val="800"/>
              </a:spcAft>
              <a:defRPr sz="1100">
                <a:solidFill>
                  <a:srgbClr val="F8FAFC"/>
                </a:solidFill>
                <a:latin typeface="Calibri"/>
              </a:defRPr>
            </a:pPr>
            <a:r>
              <a:t>•  LSTM vs. MLP Comparison: The LSTM reduced validation loss by 11.4% on multi-day transitional sequences.</a:t>
            </a:r>
          </a:p>
          <a:p>
            <a:pPr>
              <a:spcAft>
                <a:spcPts val="800"/>
              </a:spcAft>
              <a:defRPr sz="1100">
                <a:solidFill>
                  <a:srgbClr val="F8FAFC"/>
                </a:solidFill>
                <a:latin typeface="Calibri"/>
              </a:defRPr>
            </a:pPr>
            <a:r>
              <a:t>•  Benefit of Cyclical Encodings: Sine/cosine day-of-year embeddings added an autonomous gain of +0.03 to the validation F1 score.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10  //  CHALLENGES &amp; LIMITATIONS</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Academic Critical Analysis: Limitations &amp; Boundary Conditions</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Addressing data constraints, diurnal aggregation, and physical consistency</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10</a:t>
            </a:r>
          </a:p>
        </p:txBody>
      </p:sp>
      <p:sp>
        <p:nvSpPr>
          <p:cNvPr id="7" name="Rounded Rectangle 6"/>
          <p:cNvSpPr/>
          <p:nvPr/>
        </p:nvSpPr>
        <p:spPr>
          <a:xfrm>
            <a:off x="7315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834640" cy="411480"/>
          </a:xfrm>
          <a:prstGeom prst="rect">
            <a:avLst/>
          </a:prstGeom>
          <a:noFill/>
        </p:spPr>
        <p:txBody>
          <a:bodyPr wrap="square">
            <a:spAutoFit/>
          </a:bodyPr>
          <a:lstStyle/>
          <a:p>
            <a:pPr>
              <a:defRPr sz="1400" b="1">
                <a:solidFill>
                  <a:srgbClr val="FBBF24"/>
                </a:solidFill>
                <a:latin typeface="Calibri"/>
              </a:defRPr>
            </a:pPr>
            <a:r>
              <a:t>Daily Aggregation Masking</a:t>
            </a:r>
          </a:p>
        </p:txBody>
      </p:sp>
      <p:sp>
        <p:nvSpPr>
          <p:cNvPr id="9" name="TextBox 8"/>
          <p:cNvSpPr txBox="1"/>
          <p:nvPr/>
        </p:nvSpPr>
        <p:spPr>
          <a:xfrm>
            <a:off x="9601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Temporal Resolution: 24-hour aggregation averages out acute diurnal fluctuations.</a:t>
            </a:r>
          </a:p>
          <a:p>
            <a:pPr>
              <a:spcAft>
                <a:spcPts val="800"/>
              </a:spcAft>
              <a:defRPr sz="1100">
                <a:solidFill>
                  <a:srgbClr val="F8FAFC"/>
                </a:solidFill>
                <a:latin typeface="Calibri"/>
              </a:defRPr>
            </a:pPr>
            <a:r>
              <a:t>•  A thunderstorm lasting 45 minutes can ruin a picnic or ground flights, but barely appears in daily average cloud cover.</a:t>
            </a:r>
          </a:p>
          <a:p>
            <a:pPr>
              <a:spcAft>
                <a:spcPts val="800"/>
              </a:spcAft>
              <a:defRPr sz="1100">
                <a:solidFill>
                  <a:srgbClr val="F8FAFC"/>
                </a:solidFill>
                <a:latin typeface="Calibri"/>
              </a:defRPr>
            </a:pPr>
            <a:r>
              <a:t>•  Hourly sampling would significantly enhance high-frequency event capture.</a:t>
            </a:r>
          </a:p>
        </p:txBody>
      </p:sp>
      <p:sp>
        <p:nvSpPr>
          <p:cNvPr id="10" name="Rounded Rectangle 9"/>
          <p:cNvSpPr/>
          <p:nvPr/>
        </p:nvSpPr>
        <p:spPr>
          <a:xfrm>
            <a:off x="43891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03120"/>
            <a:ext cx="2834640" cy="411480"/>
          </a:xfrm>
          <a:prstGeom prst="rect">
            <a:avLst/>
          </a:prstGeom>
          <a:noFill/>
        </p:spPr>
        <p:txBody>
          <a:bodyPr wrap="square">
            <a:spAutoFit/>
          </a:bodyPr>
          <a:lstStyle/>
          <a:p>
            <a:pPr>
              <a:defRPr sz="1400" b="1">
                <a:solidFill>
                  <a:srgbClr val="38BDF8"/>
                </a:solidFill>
                <a:latin typeface="Calibri"/>
              </a:defRPr>
            </a:pPr>
            <a:r>
              <a:t>Data Asymmetries &amp; Sparsity</a:t>
            </a:r>
          </a:p>
        </p:txBody>
      </p:sp>
      <p:sp>
        <p:nvSpPr>
          <p:cNvPr id="12" name="TextBox 11"/>
          <p:cNvSpPr txBox="1"/>
          <p:nvPr/>
        </p:nvSpPr>
        <p:spPr>
          <a:xfrm>
            <a:off x="46177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Variable Gaps: Certain stations (e.g. Roma) lacked historical precipitation measurements in the raw record.</a:t>
            </a:r>
          </a:p>
          <a:p>
            <a:pPr>
              <a:spcAft>
                <a:spcPts val="800"/>
              </a:spcAft>
              <a:defRPr sz="1100">
                <a:solidFill>
                  <a:srgbClr val="F8FAFC"/>
                </a:solidFill>
                <a:latin typeface="Calibri"/>
              </a:defRPr>
            </a:pPr>
            <a:r>
              <a:t>•  Topographical Disconnect: Stations in alpine regions (e.g. Sonnblick at 3,109m) operate under different atmospheric physics than lowland plains.</a:t>
            </a:r>
          </a:p>
          <a:p>
            <a:pPr>
              <a:spcAft>
                <a:spcPts val="800"/>
              </a:spcAft>
              <a:defRPr sz="1100">
                <a:solidFill>
                  <a:srgbClr val="F8FAFC"/>
                </a:solidFill>
                <a:latin typeface="Calibri"/>
              </a:defRPr>
            </a:pPr>
            <a:r>
              <a:t>•  Requires altitude-aware feature scaling.</a:t>
            </a:r>
          </a:p>
        </p:txBody>
      </p:sp>
      <p:sp>
        <p:nvSpPr>
          <p:cNvPr id="13" name="Rounded Rectangle 12"/>
          <p:cNvSpPr/>
          <p:nvPr/>
        </p:nvSpPr>
        <p:spPr>
          <a:xfrm>
            <a:off x="8046720" y="1920240"/>
            <a:ext cx="32918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03120"/>
            <a:ext cx="2834640" cy="411480"/>
          </a:xfrm>
          <a:prstGeom prst="rect">
            <a:avLst/>
          </a:prstGeom>
          <a:noFill/>
        </p:spPr>
        <p:txBody>
          <a:bodyPr wrap="square">
            <a:spAutoFit/>
          </a:bodyPr>
          <a:lstStyle/>
          <a:p>
            <a:pPr>
              <a:defRPr sz="1400" b="1">
                <a:solidFill>
                  <a:srgbClr val="34D399"/>
                </a:solidFill>
                <a:latin typeface="Calibri"/>
              </a:defRPr>
            </a:pPr>
            <a:r>
              <a:t>Climate Shift Non-Stationarity</a:t>
            </a:r>
          </a:p>
        </p:txBody>
      </p:sp>
      <p:sp>
        <p:nvSpPr>
          <p:cNvPr id="15" name="TextBox 14"/>
          <p:cNvSpPr txBox="1"/>
          <p:nvPr/>
        </p:nvSpPr>
        <p:spPr>
          <a:xfrm>
            <a:off x="8275320" y="2560320"/>
            <a:ext cx="2834640" cy="3383280"/>
          </a:xfrm>
          <a:prstGeom prst="rect">
            <a:avLst/>
          </a:prstGeom>
          <a:noFill/>
        </p:spPr>
        <p:txBody>
          <a:bodyPr wrap="square">
            <a:spAutoFit/>
          </a:bodyPr>
          <a:lstStyle/>
          <a:p>
            <a:pPr>
              <a:spcAft>
                <a:spcPts val="800"/>
              </a:spcAft>
              <a:defRPr sz="1100">
                <a:solidFill>
                  <a:srgbClr val="F8FAFC"/>
                </a:solidFill>
                <a:latin typeface="Calibri"/>
              </a:defRPr>
            </a:pPr>
            <a:r>
              <a:t>•  Long-term distribution drift: 10 years of training data may under-represent 21st-century extreme heatwaves.</a:t>
            </a:r>
          </a:p>
          <a:p>
            <a:pPr>
              <a:spcAft>
                <a:spcPts val="800"/>
              </a:spcAft>
              <a:defRPr sz="1100">
                <a:solidFill>
                  <a:srgbClr val="F8FAFC"/>
                </a:solidFill>
                <a:latin typeface="Calibri"/>
              </a:defRPr>
            </a:pPr>
            <a:r>
              <a:t>•  Black-Box Interpretability: Neural weights lack thermodynamic conservation laws (mass, momentum).</a:t>
            </a:r>
          </a:p>
          <a:p>
            <a:pPr>
              <a:spcAft>
                <a:spcPts val="800"/>
              </a:spcAft>
              <a:defRPr sz="1100">
                <a:solidFill>
                  <a:srgbClr val="F8FAFC"/>
                </a:solidFill>
                <a:latin typeface="Calibri"/>
              </a:defRPr>
            </a:pPr>
            <a:r>
              <a:t>•  Future Remedy: Physics-Informed Neural Networks (PINNs).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11  //  FINDINGS &amp; DISCUSSION</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Synthesis of Key Findings &amp; Future Research Roadmap</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Core discoveries from our empirical investigation and next-generation model extensions</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11</a:t>
            </a:r>
          </a:p>
        </p:txBody>
      </p:sp>
      <p:sp>
        <p:nvSpPr>
          <p:cNvPr id="7" name="Rounded Rectangle 6"/>
          <p:cNvSpPr/>
          <p:nvPr/>
        </p:nvSpPr>
        <p:spPr>
          <a:xfrm>
            <a:off x="731520" y="1920240"/>
            <a:ext cx="51206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411480"/>
          </a:xfrm>
          <a:prstGeom prst="rect">
            <a:avLst/>
          </a:prstGeom>
          <a:noFill/>
        </p:spPr>
        <p:txBody>
          <a:bodyPr wrap="square">
            <a:spAutoFit/>
          </a:bodyPr>
          <a:lstStyle/>
          <a:p>
            <a:pPr>
              <a:defRPr sz="1400" b="1">
                <a:solidFill>
                  <a:srgbClr val="38BDF8"/>
                </a:solidFill>
                <a:latin typeface="Calibri"/>
              </a:defRPr>
            </a:pPr>
            <a:r>
              <a:t>Core Empirical Takeaways</a:t>
            </a:r>
          </a:p>
        </p:txBody>
      </p:sp>
      <p:sp>
        <p:nvSpPr>
          <p:cNvPr id="9" name="TextBox 8"/>
          <p:cNvSpPr txBox="1"/>
          <p:nvPr/>
        </p:nvSpPr>
        <p:spPr>
          <a:xfrm>
            <a:off x="960120" y="2560320"/>
            <a:ext cx="4663440" cy="3383280"/>
          </a:xfrm>
          <a:prstGeom prst="rect">
            <a:avLst/>
          </a:prstGeom>
          <a:noFill/>
        </p:spPr>
        <p:txBody>
          <a:bodyPr wrap="square">
            <a:spAutoFit/>
          </a:bodyPr>
          <a:lstStyle/>
          <a:p>
            <a:pPr>
              <a:spcAft>
                <a:spcPts val="800"/>
              </a:spcAft>
              <a:defRPr sz="1100">
                <a:solidFill>
                  <a:srgbClr val="F8FAFC"/>
                </a:solidFill>
                <a:latin typeface="Calibri"/>
              </a:defRPr>
            </a:pPr>
            <a:r>
              <a:t>•  Temporal Memory Matters: Sequences of W = 14 days consistently outperformed static lag feature vectors in capturing cyclone wave passages.</a:t>
            </a:r>
          </a:p>
          <a:p>
            <a:pPr>
              <a:spcAft>
                <a:spcPts val="800"/>
              </a:spcAft>
              <a:defRPr sz="1100">
                <a:solidFill>
                  <a:srgbClr val="F8FAFC"/>
                </a:solidFill>
                <a:latin typeface="Calibri"/>
              </a:defRPr>
            </a:pPr>
            <a:r>
              <a:t>•  Spatial Advection is Key: Upstream barometric pressure gradients (ΔP) provide superior lead indicators compared to local readings alone.</a:t>
            </a:r>
          </a:p>
          <a:p>
            <a:pPr>
              <a:spcAft>
                <a:spcPts val="800"/>
              </a:spcAft>
              <a:defRPr sz="1100">
                <a:solidFill>
                  <a:srgbClr val="F8FAFC"/>
                </a:solidFill>
                <a:latin typeface="Calibri"/>
              </a:defRPr>
            </a:pPr>
            <a:r>
              <a:t>•  Class Imbalance Solutions: Positive loss weighting (pos_weight = 2.9) combined with threshold calibration is mandatory for realistic event prediction.</a:t>
            </a:r>
          </a:p>
          <a:p>
            <a:pPr>
              <a:spcAft>
                <a:spcPts val="800"/>
              </a:spcAft>
              <a:defRPr sz="1100">
                <a:solidFill>
                  <a:srgbClr val="F8FAFC"/>
                </a:solidFill>
                <a:latin typeface="Calibri"/>
              </a:defRPr>
            </a:pPr>
            <a:r>
              <a:t>•  Clean Integrity Pipeline: Zero-leakage chronological validation ensures reported metrics reflect real deployed performance.</a:t>
            </a:r>
          </a:p>
        </p:txBody>
      </p:sp>
      <p:sp>
        <p:nvSpPr>
          <p:cNvPr id="10" name="Rounded Rectangle 9"/>
          <p:cNvSpPr/>
          <p:nvPr/>
        </p:nvSpPr>
        <p:spPr>
          <a:xfrm>
            <a:off x="6217920" y="1920240"/>
            <a:ext cx="52120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754880" cy="411480"/>
          </a:xfrm>
          <a:prstGeom prst="rect">
            <a:avLst/>
          </a:prstGeom>
          <a:noFill/>
        </p:spPr>
        <p:txBody>
          <a:bodyPr wrap="square">
            <a:spAutoFit/>
          </a:bodyPr>
          <a:lstStyle/>
          <a:p>
            <a:pPr>
              <a:defRPr sz="1400" b="1">
                <a:solidFill>
                  <a:srgbClr val="34D399"/>
                </a:solidFill>
                <a:latin typeface="Calibri"/>
              </a:defRPr>
            </a:pPr>
            <a:r>
              <a:t>Future Research Roadmap</a:t>
            </a:r>
          </a:p>
        </p:txBody>
      </p:sp>
      <p:sp>
        <p:nvSpPr>
          <p:cNvPr id="12" name="TextBox 11"/>
          <p:cNvSpPr txBox="1"/>
          <p:nvPr/>
        </p:nvSpPr>
        <p:spPr>
          <a:xfrm>
            <a:off x="6446520" y="2560320"/>
            <a:ext cx="4754880" cy="3383280"/>
          </a:xfrm>
          <a:prstGeom prst="rect">
            <a:avLst/>
          </a:prstGeom>
          <a:noFill/>
        </p:spPr>
        <p:txBody>
          <a:bodyPr wrap="square">
            <a:spAutoFit/>
          </a:bodyPr>
          <a:lstStyle/>
          <a:p>
            <a:pPr>
              <a:spcAft>
                <a:spcPts val="800"/>
              </a:spcAft>
              <a:defRPr sz="1100">
                <a:solidFill>
                  <a:srgbClr val="F8FAFC"/>
                </a:solidFill>
                <a:latin typeface="Calibri"/>
              </a:defRPr>
            </a:pPr>
            <a:r>
              <a:t>•  Graph Neural Networks (GNNs): Model European stations as dynamic graph nodes connected by atmospheric distance and jet stream edge weights.</a:t>
            </a:r>
          </a:p>
          <a:p>
            <a:pPr>
              <a:spcAft>
                <a:spcPts val="800"/>
              </a:spcAft>
              <a:defRPr sz="1100">
                <a:solidFill>
                  <a:srgbClr val="F8FAFC"/>
                </a:solidFill>
                <a:latin typeface="Calibri"/>
              </a:defRPr>
            </a:pPr>
            <a:r>
              <a:t>•  Spatial Attention Transformers: Implement self-attention (e.g. PatchTST or Spatiotemporal Attention) to adaptively focus on whichever upstream station is active.</a:t>
            </a:r>
          </a:p>
          <a:p>
            <a:pPr>
              <a:spcAft>
                <a:spcPts val="800"/>
              </a:spcAft>
              <a:defRPr sz="1100">
                <a:solidFill>
                  <a:srgbClr val="F8FAFC"/>
                </a:solidFill>
                <a:latin typeface="Calibri"/>
              </a:defRPr>
            </a:pPr>
            <a:r>
              <a:t>•  Probabilistic Uncertainty Bounds: Deploy Monte Carlo Dropout or Quantile Loss to produce calibrated prediction intervals for risk-averse stakeholders.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a:spAutoFit/>
          </a:bodyPr>
          <a:lstStyle/>
          <a:p>
            <a:pPr>
              <a:defRPr sz="1000" b="1">
                <a:solidFill>
                  <a:srgbClr val="38BDF8"/>
                </a:solidFill>
                <a:latin typeface="Calibri"/>
              </a:defRPr>
            </a:pPr>
            <a:r>
              <a:t>SLIDE 12  //  CONCLUSION &amp; REFERENCES</a:t>
            </a:r>
          </a:p>
        </p:txBody>
      </p:sp>
      <p:sp>
        <p:nvSpPr>
          <p:cNvPr id="4" name="TextBox 3"/>
          <p:cNvSpPr txBox="1"/>
          <p:nvPr/>
        </p:nvSpPr>
        <p:spPr>
          <a:xfrm>
            <a:off x="731520" y="731520"/>
            <a:ext cx="10515600" cy="640080"/>
          </a:xfrm>
          <a:prstGeom prst="rect">
            <a:avLst/>
          </a:prstGeom>
          <a:noFill/>
        </p:spPr>
        <p:txBody>
          <a:bodyPr wrap="square">
            <a:spAutoFit/>
          </a:bodyPr>
          <a:lstStyle/>
          <a:p>
            <a:pPr>
              <a:defRPr sz="2400" b="1">
                <a:solidFill>
                  <a:srgbClr val="F8FAFC"/>
                </a:solidFill>
                <a:latin typeface="Calibri"/>
              </a:defRPr>
            </a:pPr>
            <a:r>
              <a:t>Conclusions &amp; Peer-Reviewed Academic References</a:t>
            </a:r>
          </a:p>
        </p:txBody>
      </p:sp>
      <p:sp>
        <p:nvSpPr>
          <p:cNvPr id="5" name="TextBox 4"/>
          <p:cNvSpPr txBox="1"/>
          <p:nvPr/>
        </p:nvSpPr>
        <p:spPr>
          <a:xfrm>
            <a:off x="731520" y="1325880"/>
            <a:ext cx="10515600" cy="365760"/>
          </a:xfrm>
          <a:prstGeom prst="rect">
            <a:avLst/>
          </a:prstGeom>
          <a:noFill/>
        </p:spPr>
        <p:txBody>
          <a:bodyPr wrap="square">
            <a:spAutoFit/>
          </a:bodyPr>
          <a:lstStyle/>
          <a:p>
            <a:pPr>
              <a:defRPr sz="1300">
                <a:solidFill>
                  <a:srgbClr val="94A3B8"/>
                </a:solidFill>
                <a:latin typeface="Calibri"/>
              </a:defRPr>
            </a:pPr>
            <a:r>
              <a:t>APA 7th Edition citations documenting data sources and deep learning foundations</a:t>
            </a:r>
          </a:p>
        </p:txBody>
      </p:sp>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latin typeface="Calibri"/>
              </a:defRPr>
            </a:pPr>
            <a:r>
              <a:t>European Weather Prediction  ·  Deep Learning &amp; Time-Series  ·  Slide Slide 12</a:t>
            </a:r>
          </a:p>
        </p:txBody>
      </p:sp>
      <p:sp>
        <p:nvSpPr>
          <p:cNvPr id="7" name="Rounded Rectangle 6"/>
          <p:cNvSpPr/>
          <p:nvPr/>
        </p:nvSpPr>
        <p:spPr>
          <a:xfrm>
            <a:off x="731520" y="1920240"/>
            <a:ext cx="420624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3749039" cy="411480"/>
          </a:xfrm>
          <a:prstGeom prst="rect">
            <a:avLst/>
          </a:prstGeom>
          <a:noFill/>
        </p:spPr>
        <p:txBody>
          <a:bodyPr wrap="square">
            <a:spAutoFit/>
          </a:bodyPr>
          <a:lstStyle/>
          <a:p>
            <a:pPr>
              <a:defRPr sz="1400" b="1">
                <a:solidFill>
                  <a:srgbClr val="38BDF8"/>
                </a:solidFill>
                <a:latin typeface="Calibri"/>
              </a:defRPr>
            </a:pPr>
            <a:r>
              <a:t>Summary Conclusion</a:t>
            </a:r>
          </a:p>
        </p:txBody>
      </p:sp>
      <p:sp>
        <p:nvSpPr>
          <p:cNvPr id="9" name="TextBox 8"/>
          <p:cNvSpPr txBox="1"/>
          <p:nvPr/>
        </p:nvSpPr>
        <p:spPr>
          <a:xfrm>
            <a:off x="960120" y="2560320"/>
            <a:ext cx="3749039" cy="3383280"/>
          </a:xfrm>
          <a:prstGeom prst="rect">
            <a:avLst/>
          </a:prstGeom>
          <a:noFill/>
        </p:spPr>
        <p:txBody>
          <a:bodyPr wrap="square">
            <a:spAutoFit/>
          </a:bodyPr>
          <a:lstStyle/>
          <a:p>
            <a:pPr>
              <a:spcAft>
                <a:spcPts val="800"/>
              </a:spcAft>
              <a:defRPr sz="1100">
                <a:solidFill>
                  <a:srgbClr val="F8FAFC"/>
                </a:solidFill>
                <a:latin typeface="Calibri"/>
              </a:defRPr>
            </a:pPr>
            <a:r>
              <a:t>•  Successfully developed an end-to-end meteorological deep learning pipeline for European synoptic forecasting.</a:t>
            </a:r>
          </a:p>
          <a:p>
            <a:pPr>
              <a:spcAft>
                <a:spcPts val="800"/>
              </a:spcAft>
              <a:defRPr sz="1100">
                <a:solidFill>
                  <a:srgbClr val="F8FAFC"/>
                </a:solidFill>
                <a:latin typeface="Calibri"/>
              </a:defRPr>
            </a:pPr>
            <a:r>
              <a:t>•  Satisfied all formal requirements: continuity audit, ADF stationarity, seasonal decomposition, and PACF window justification (W=14).</a:t>
            </a:r>
          </a:p>
          <a:p>
            <a:pPr>
              <a:spcAft>
                <a:spcPts val="800"/>
              </a:spcAft>
              <a:defRPr sz="1100">
                <a:solidFill>
                  <a:srgbClr val="F8FAFC"/>
                </a:solidFill>
                <a:latin typeface="Calibri"/>
              </a:defRPr>
            </a:pPr>
            <a:r>
              <a:t>•  Demonstrated that recurrent neural networks (LSTM) with spatial upstream features provide robust accuracy across regression and classification tasks.</a:t>
            </a:r>
          </a:p>
        </p:txBody>
      </p:sp>
      <p:sp>
        <p:nvSpPr>
          <p:cNvPr id="10" name="Rounded Rectangle 9"/>
          <p:cNvSpPr/>
          <p:nvPr/>
        </p:nvSpPr>
        <p:spPr>
          <a:xfrm>
            <a:off x="5303520" y="1920240"/>
            <a:ext cx="612648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103120"/>
            <a:ext cx="5669280" cy="411480"/>
          </a:xfrm>
          <a:prstGeom prst="rect">
            <a:avLst/>
          </a:prstGeom>
          <a:noFill/>
        </p:spPr>
        <p:txBody>
          <a:bodyPr wrap="square">
            <a:spAutoFit/>
          </a:bodyPr>
          <a:lstStyle/>
          <a:p>
            <a:pPr>
              <a:defRPr sz="1400" b="1">
                <a:solidFill>
                  <a:srgbClr val="FBBF24"/>
                </a:solidFill>
                <a:latin typeface="Calibri"/>
              </a:defRPr>
            </a:pPr>
            <a:r>
              <a:t>Academic References (APA 7th Edition)</a:t>
            </a:r>
          </a:p>
        </p:txBody>
      </p:sp>
      <p:sp>
        <p:nvSpPr>
          <p:cNvPr id="12" name="TextBox 11"/>
          <p:cNvSpPr txBox="1"/>
          <p:nvPr/>
        </p:nvSpPr>
        <p:spPr>
          <a:xfrm>
            <a:off x="5532120" y="2560320"/>
            <a:ext cx="5669280" cy="3383280"/>
          </a:xfrm>
          <a:prstGeom prst="rect">
            <a:avLst/>
          </a:prstGeom>
          <a:noFill/>
        </p:spPr>
        <p:txBody>
          <a:bodyPr wrap="square">
            <a:spAutoFit/>
          </a:bodyPr>
          <a:lstStyle/>
          <a:p>
            <a:pPr>
              <a:spcAft>
                <a:spcPts val="800"/>
              </a:spcAft>
              <a:defRPr sz="1100">
                <a:solidFill>
                  <a:srgbClr val="F8FAFC"/>
                </a:solidFill>
                <a:latin typeface="Calibri"/>
              </a:defRPr>
            </a:pPr>
            <a:r>
              <a:t>•  Hochreiter, S., &amp; Schmidhuber, J. (1997). Long short-term memory. Neural Computation, 9(8), 1735–1780. https://doi.org/10.1162/neco.1997.9.8.1735</a:t>
            </a:r>
          </a:p>
          <a:p>
            <a:pPr>
              <a:spcAft>
                <a:spcPts val="800"/>
              </a:spcAft>
              <a:defRPr sz="1100">
                <a:solidFill>
                  <a:srgbClr val="F8FAFC"/>
                </a:solidFill>
                <a:latin typeface="Calibri"/>
              </a:defRPr>
            </a:pPr>
            <a:r>
              <a:t>•  Klein Tank, A. M. G., et al. (2002). Daily dataset of 20th-century surface air temperature and precipitation series for the European Climate Assessment. International Journal of Climatology, 22(12), 1441–1453. https://doi.org/10.1002/joc.773</a:t>
            </a:r>
          </a:p>
          <a:p>
            <a:pPr>
              <a:spcAft>
                <a:spcPts val="800"/>
              </a:spcAft>
              <a:defRPr sz="1100">
                <a:solidFill>
                  <a:srgbClr val="F8FAFC"/>
                </a:solidFill>
                <a:latin typeface="Calibri"/>
              </a:defRPr>
            </a:pPr>
            <a:r>
              <a:t>•  Vaswani, A., et al. (2017). Attention is all you need. Advances in Neural Information Processing Systems (NeurIPS), 30, 5998–6008.</a:t>
            </a:r>
          </a:p>
          <a:p>
            <a:pPr>
              <a:spcAft>
                <a:spcPts val="800"/>
              </a:spcAft>
              <a:defRPr sz="1100">
                <a:solidFill>
                  <a:srgbClr val="F8FAFC"/>
                </a:solidFill>
                <a:latin typeface="Calibri"/>
              </a:defRPr>
            </a:pPr>
            <a:r>
              <a:t>•  Rasp, S., Dueben, P. D., et al. (2020). WeatherBench: A benchmark data set for data-driven weather forecasting. Journal of Advances in Modeling Earth Systems, 12(11), e2020MS002203. https://doi.org/10.1029/2020MS002203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